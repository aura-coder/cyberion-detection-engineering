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Presentation — Detection Engineering &amp; Threat Hunting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Paste each </a:t>
            </a:r>
            <a:r>
              <a:rPr sz="2000">
                <a:latin typeface="Courier"/>
              </a:rPr>
              <a:t>##</a:t>
            </a:r>
            <a:r>
              <a:rPr sz="2000"/>
              <a:t> section into one slide in Google Slides / PowerPoint / Keynote.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 — Title</a:t>
            </a:r>
          </a:p>
          <a:p>
            <a:pPr lvl="0" indent="0" marL="0">
              <a:buNone/>
            </a:pPr>
            <a:r>
              <a:rPr b="1"/>
              <a:t>Detection Engineering &amp; Threat Hunting Engagement</a:t>
            </a:r>
          </a:p>
          <a:p>
            <a:pPr lvl="0"/>
            <a:r>
              <a:rPr/>
              <a:t>Cyberion Defense Labs</a:t>
            </a:r>
          </a:p>
          <a:p>
            <a:pPr lvl="0"/>
            <a:r>
              <a:rPr/>
              <a:t>Prepared for: Security Engineering Program</a:t>
            </a:r>
          </a:p>
          <a:p>
            <a:pPr lvl="0"/>
            <a:r>
              <a:rPr/>
              <a:t>Author: Detection Engineering &amp; Threat Intelligence Office</a:t>
            </a:r>
          </a:p>
          <a:p>
            <a:pPr lvl="0"/>
            <a:r>
              <a:rPr/>
              <a:t>Date: 2026-04-04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 — Executive Headline</a:t>
            </a:r>
          </a:p>
          <a:p>
            <a:pPr lvl="0" indent="0" marL="0">
              <a:buNone/>
            </a:pPr>
            <a:r>
              <a:rPr b="1"/>
              <a:t>Two real attacks confirmed against real telemetry.</a:t>
            </a:r>
          </a:p>
          <a:p>
            <a:pPr lvl="0"/>
            <a:r>
              <a:rPr/>
              <a:t>Cobalt Strike intrusion: LSASS dump + injection into the credential process</a:t>
            </a:r>
          </a:p>
          <a:p>
            <a:pPr lvl="0"/>
            <a:r>
              <a:rPr/>
              <a:t>LOLBin C2 chain: mshta / WMIC contacting Vultr and Moroccan VPS infrastructure</a:t>
            </a:r>
          </a:p>
          <a:p>
            <a:pPr lvl="0"/>
            <a:r>
              <a:rPr/>
              <a:t>24 Sigma rules built, tested, and mapped to 23 MITRE ATT&amp;CK techniques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 — Business Problem</a:t>
            </a:r>
          </a:p>
          <a:p>
            <a:pPr lvl="0"/>
            <a:r>
              <a:rPr/>
              <a:t>Detections were ad hoc and undocumented</a:t>
            </a:r>
          </a:p>
          <a:p>
            <a:pPr lvl="0"/>
            <a:r>
              <a:rPr/>
              <a:t>No ATT&amp;CK-mapped view of coverage</a:t>
            </a:r>
          </a:p>
          <a:p>
            <a:pPr lvl="0"/>
            <a:r>
              <a:rPr/>
              <a:t>Threat hunting rare, no repeatable method</a:t>
            </a:r>
          </a:p>
          <a:p>
            <a:pPr lvl="0"/>
            <a:r>
              <a:rPr/>
              <a:t>Incidents not written up in a way that feeds back into detection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 — What We Built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Sigma detection rules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MITRE ATT&amp;CK techniques mapped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Threat hunts (both confirmed)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Incident case reports (True Positive)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IR playbooks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IOC indicators documented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IPs, 3 domains, 2 files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5 — Attack #1: Cobalt Strike Intrusion</a:t>
            </a:r>
          </a:p>
          <a:p>
            <a:pPr lvl="0"/>
            <a:r>
              <a:rPr b="1"/>
              <a:t>T1003.001</a:t>
            </a:r>
            <a:r>
              <a:rPr/>
              <a:t> — LSASS memory dumped via </a:t>
            </a:r>
            <a:r>
              <a:rPr>
                <a:latin typeface="Courier"/>
              </a:rPr>
              <a:t>rundll32 comsvcs.dll, MiniDump</a:t>
            </a:r>
          </a:p>
          <a:p>
            <a:pPr lvl="0"/>
            <a:r>
              <a:rPr b="1"/>
              <a:t>T1047</a:t>
            </a:r>
            <a:r>
              <a:rPr/>
              <a:t> — Dump executed remotely via WMI (</a:t>
            </a:r>
            <a:r>
              <a:rPr>
                <a:latin typeface="Courier"/>
              </a:rPr>
              <a:t>WmiPrvSE.exe</a:t>
            </a:r>
            <a:r>
              <a:rPr/>
              <a:t> parent)</a:t>
            </a:r>
          </a:p>
          <a:p>
            <a:pPr lvl="0"/>
            <a:r>
              <a:rPr b="1"/>
              <a:t>T1055.002</a:t>
            </a:r>
            <a:r>
              <a:rPr/>
              <a:t> — Beacon injected into </a:t>
            </a:r>
            <a:r>
              <a:rPr>
                <a:latin typeface="Courier"/>
              </a:rPr>
              <a:t>lsass.exe</a:t>
            </a:r>
            <a:r>
              <a:rPr/>
              <a:t> (evidenced by </a:t>
            </a:r>
            <a:r>
              <a:rPr>
                <a:latin typeface="Courier"/>
              </a:rPr>
              <a:t>mimilsa.log</a:t>
            </a:r>
            <a:r>
              <a:rPr/>
              <a:t> created by LSASS itself)</a:t>
            </a:r>
          </a:p>
          <a:p>
            <a:pPr lvl="0"/>
            <a:r>
              <a:rPr b="1"/>
              <a:t>Impact:</a:t>
            </a:r>
            <a:r>
              <a:rPr/>
              <a:t> All domain credentials cached on that host must be treated as compromised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6 — Attack #2: LOLBin C2 Chain</a:t>
            </a:r>
          </a:p>
          <a:p>
            <a:pPr lvl="0"/>
            <a:r>
              <a:rPr b="1"/>
              <a:t>T1218.005</a:t>
            </a:r>
            <a:r>
              <a:rPr/>
              <a:t> — </a:t>
            </a:r>
            <a:r>
              <a:rPr>
                <a:latin typeface="Courier"/>
              </a:rPr>
              <a:t>mshta.exe</a:t>
            </a:r>
            <a:r>
              <a:rPr/>
              <a:t> contacting attacker infrastructure</a:t>
            </a:r>
          </a:p>
          <a:p>
            <a:pPr lvl="0"/>
            <a:r>
              <a:rPr b="1"/>
              <a:t>T1218.010</a:t>
            </a:r>
            <a:r>
              <a:rPr/>
              <a:t> — </a:t>
            </a:r>
            <a:r>
              <a:rPr>
                <a:latin typeface="Courier"/>
              </a:rPr>
              <a:t>regsvr32.exe</a:t>
            </a:r>
            <a:r>
              <a:rPr/>
              <a:t> “Squiblydoo” pattern</a:t>
            </a:r>
          </a:p>
          <a:p>
            <a:pPr lvl="0"/>
            <a:r>
              <a:rPr b="1"/>
              <a:t>T1105</a:t>
            </a:r>
            <a:r>
              <a:rPr/>
              <a:t> — </a:t>
            </a:r>
            <a:r>
              <a:rPr>
                <a:latin typeface="Courier"/>
              </a:rPr>
              <a:t>certutil.exe</a:t>
            </a:r>
            <a:r>
              <a:rPr/>
              <a:t> download cradle</a:t>
            </a:r>
          </a:p>
          <a:p>
            <a:pPr lvl="0"/>
            <a:r>
              <a:rPr b="1"/>
              <a:t>Destinations:</a:t>
            </a:r>
            <a:r>
              <a:rPr/>
              <a:t> </a:t>
            </a:r>
            <a:r>
              <a:rPr>
                <a:latin typeface="Courier"/>
              </a:rPr>
              <a:t>45.76.12.27</a:t>
            </a:r>
            <a:r>
              <a:rPr/>
              <a:t> (Vultr), </a:t>
            </a:r>
            <a:r>
              <a:rPr>
                <a:latin typeface="Courier"/>
              </a:rPr>
              <a:t>105.73.6.105</a:t>
            </a:r>
            <a:r>
              <a:rPr/>
              <a:t> (Moroccan ISP), </a:t>
            </a:r>
            <a:r>
              <a:rPr>
                <a:latin typeface="Courier"/>
              </a:rPr>
              <a:t>108.179.232.58</a:t>
            </a:r>
            <a:r>
              <a:rPr/>
              <a:t> (HostGator)</a:t>
            </a:r>
          </a:p>
          <a:p>
            <a:pPr lvl="0"/>
            <a:r>
              <a:rPr b="1"/>
              <a:t>Impact:</a:t>
            </a:r>
            <a:r>
              <a:rPr/>
              <a:t> Active attacker beacon traffic from corporate hosts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7 — Coverage Gaps Closed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 Rule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Office masquerade in AppData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win_office_masquerade_appdata.yml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WMI + SMB redirect (Impacket)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win_wmi_impacket_redirect.yml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Shadow copy execution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win_shadow_copy_execution.yml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LOLBin external traffic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rules added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LSASS mimikatz artifact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win_lsass_mimikatz_log_artifact.yml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Ping-delay + hidden delete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win_ping_delay_and_hidden_delete.yml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8 — ATT&amp;CK Coverage Matrix</a:t>
            </a:r>
          </a:p>
          <a:p>
            <a:pPr lvl="0"/>
            <a:r>
              <a:rPr/>
              <a:t>23 unique techniques mapped across 8 tactics</a:t>
            </a:r>
          </a:p>
          <a:p>
            <a:pPr lvl="0"/>
            <a:r>
              <a:rPr/>
              <a:t>Every rule references a specific technique ID</a:t>
            </a:r>
          </a:p>
          <a:p>
            <a:pPr lvl="0"/>
            <a:r>
              <a:rPr/>
              <a:t>Layer file: </a:t>
            </a:r>
            <a:r>
              <a:rPr>
                <a:latin typeface="Courier"/>
              </a:rPr>
              <a:t>coverage/attack_coverage_layer.json</a:t>
            </a:r>
            <a:r>
              <a:rPr/>
              <a:t> (importable into ATT&amp;CK Navigator)</a:t>
            </a:r>
          </a:p>
          <a:p>
            <a:pPr lvl="0"/>
            <a:r>
              <a:rPr/>
              <a:t>Coverage is auditable — each “Covered” row traces to a tested rule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9 — Threat Hunting Outcomes</a:t>
            </a:r>
          </a:p>
          <a:p>
            <a:pPr lvl="0" indent="0" marL="0">
              <a:buNone/>
            </a:pPr>
            <a:r>
              <a:rPr b="1"/>
              <a:t>Hunt 001 — Process Chains</a:t>
            </a:r>
            <a:r>
              <a:rPr/>
              <a:t> - Result: CONFIRMED - 4 findings including masqueraded WINWORD and shadow-copy execution</a:t>
            </a:r>
          </a:p>
          <a:p>
            <a:pPr lvl="0" indent="0" marL="0">
              <a:buNone/>
            </a:pPr>
            <a:r>
              <a:rPr b="1"/>
              <a:t>Hunt 002 — C2 Beaconing</a:t>
            </a:r>
            <a:r>
              <a:rPr/>
              <a:t> - Result: CONFIRMED - 3 findings including Vultr C2 and a 61-second LOLBin chain</a:t>
            </a:r>
          </a:p>
          <a:p>
            <a:pPr lvl="0" indent="0" marL="0">
              <a:buNone/>
            </a:pPr>
            <a:r>
              <a:rPr/>
              <a:t>Both hunts fed directly into new Sigma rules.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10 — Detection Quality</a:t>
            </a:r>
          </a:p>
          <a:p>
            <a:pPr lvl="0"/>
            <a:r>
              <a:rPr b="1"/>
              <a:t>100%</a:t>
            </a:r>
            <a:r>
              <a:rPr/>
              <a:t> of rules validated against real telemetry</a:t>
            </a:r>
          </a:p>
          <a:p>
            <a:pPr lvl="0"/>
            <a:r>
              <a:rPr b="1"/>
              <a:t>100%</a:t>
            </a:r>
            <a:r>
              <a:rPr/>
              <a:t> of rules include documented false-positive discussion</a:t>
            </a:r>
          </a:p>
          <a:p>
            <a:pPr lvl="0"/>
            <a:r>
              <a:rPr b="1"/>
              <a:t>0</a:t>
            </a:r>
            <a:r>
              <a:rPr/>
              <a:t> validation errors across 24 rules</a:t>
            </a:r>
          </a:p>
          <a:p>
            <a:pPr lvl="0"/>
            <a:r>
              <a:rPr/>
              <a:t>Every rule converted to Splunk SPL, Elastic Lucene, and EQL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11 — Deliverables Summary</a:t>
            </a:r>
          </a:p>
          <a:p>
            <a:pPr lvl="0"/>
            <a:r>
              <a:rPr/>
              <a:t>24 Sigma rules (versioned in git)</a:t>
            </a:r>
          </a:p>
          <a:p>
            <a:pPr lvl="0"/>
            <a:r>
              <a:rPr/>
              <a:t>ATT&amp;CK coverage matrix + Navigator layer</a:t>
            </a:r>
          </a:p>
          <a:p>
            <a:pPr lvl="0"/>
            <a:r>
              <a:rPr/>
              <a:t>2 hunt reports with evidence</a:t>
            </a:r>
          </a:p>
          <a:p>
            <a:pPr lvl="0"/>
            <a:r>
              <a:rPr/>
              <a:t>2 incident case reports (True Positive)</a:t>
            </a:r>
          </a:p>
          <a:p>
            <a:pPr lvl="0"/>
            <a:r>
              <a:rPr/>
              <a:t>4 IR playbooks</a:t>
            </a:r>
          </a:p>
          <a:p>
            <a:pPr lvl="0"/>
            <a:r>
              <a:rPr/>
              <a:t>IOC research notes</a:t>
            </a:r>
          </a:p>
          <a:p>
            <a:pPr lvl="0"/>
            <a:r>
              <a:rPr/>
              <a:t>Executive summary</a:t>
            </a:r>
          </a:p>
          <a:p>
            <a:pPr lvl="0"/>
            <a:r>
              <a:rPr/>
              <a:t>Methodology document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12 — Recommendations</a:t>
            </a:r>
          </a:p>
          <a:p>
            <a:pPr lvl="0" indent="0" marL="0">
              <a:buNone/>
            </a:pPr>
            <a:r>
              <a:rPr b="1"/>
              <a:t>Immediate:</a:t>
            </a:r>
            <a:r>
              <a:rPr/>
              <a:t> - Rotate credentials for any account that logged on to the compromised host - Deploy the 24 Sigma rules via the SIEM pipeline</a:t>
            </a:r>
          </a:p>
          <a:p>
            <a:pPr lvl="0" indent="0" marL="0">
              <a:buNone/>
            </a:pPr>
            <a:r>
              <a:rPr b="1"/>
              <a:t>Short-term:</a:t>
            </a:r>
            <a:r>
              <a:rPr/>
              <a:t> - Extend coverage to cloud logs (Azure AD, CloudTrail) - Continuous purple-team loop via Atomic Red Team</a:t>
            </a:r>
          </a:p>
          <a:p>
            <a:pPr lvl="0" indent="0" marL="0">
              <a:buNone/>
            </a:pPr>
            <a:r>
              <a:rPr b="1"/>
              <a:t>Long-term:</a:t>
            </a:r>
            <a:r>
              <a:rPr/>
              <a:t> - Adopt Sigma as the standard detection format - Maintain ATT&amp;CK Navigator as a living artifact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13 — Bottom Line</a:t>
            </a:r>
          </a:p>
          <a:p>
            <a:pPr lvl="0" indent="0" marL="0">
              <a:buNone/>
            </a:pPr>
            <a:r>
              <a:rPr b="1"/>
              <a:t>Reproducible, evidence-based detection library that caught real attacks.</a:t>
            </a:r>
          </a:p>
          <a:p>
            <a:pPr lvl="0" indent="0" marL="0">
              <a:buNone/>
            </a:pPr>
            <a:r>
              <a:rPr/>
              <a:t>Every claim traces to specific log evidence, a written rule, and a MITRE ATT&amp;CK technique ID.</a:t>
            </a:r>
          </a:p>
          <a:p>
            <a:pPr lvl="0"/>
            <a:r>
              <a:rPr/>
              <a:t>Repository: </a:t>
            </a:r>
            <a:r>
              <a:rPr>
                <a:latin typeface="Courier"/>
              </a:rPr>
              <a:t>~/cyberion-detection-engineering</a:t>
            </a:r>
          </a:p>
          <a:p>
            <a:pPr lvl="0"/>
            <a:r>
              <a:rPr/>
              <a:t>127 git-tracked files</a:t>
            </a:r>
          </a:p>
          <a:p>
            <a:pPr lvl="0"/>
            <a:r>
              <a:rPr/>
              <a:t>5-week reproducible methodology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14 — Questions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2026-10-04T17:40:34Z</dcterms:created>
  <dcterms:modified xsi:type="dcterms:W3CDTF">2026-10-04T17:40:34Z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